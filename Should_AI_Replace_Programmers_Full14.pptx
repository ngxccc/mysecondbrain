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63d9a2a28644563" /><Relationship Type="http://schemas.openxmlformats.org/package/2006/relationships/metadata/core-properties" Target="/docProps/core.xml" Id="Rd33d0f5a326d481c" /><Relationship Type="http://schemas.openxmlformats.org/officeDocument/2006/relationships/extended-properties" Target="/docProps/app.xml" Id="R75115bc128674d76" /><Relationship Type="http://schemas.openxmlformats.org/officeDocument/2006/relationships/custom-properties" Target="/docProps/custom.xml" Id="Rece11e8af0094cd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77b71cad86ae4efe"/>
    <p:sldId id="257" r:id="R11076c818e594df2"/>
    <p:sldId id="258" r:id="R4cdb45d1f1de4263"/>
    <p:sldId id="259" r:id="R57adb16bcfe745f9"/>
    <p:sldId id="260" r:id="Rdd2e5d928f844764"/>
    <p:sldId id="261" r:id="R50413500792f46a1"/>
    <p:sldId id="262" r:id="R338c7e5c6e1a4f38"/>
    <p:sldId id="263" r:id="R60164ebe5c6a44dc"/>
    <p:sldId id="264" r:id="Ra304adb0781940dd"/>
    <p:sldId id="265" r:id="R224cb82129c94f36"/>
    <p:sldId id="266" r:id="R308711704a5e4ce4"/>
    <p:sldId id="267" r:id="Rb4f7d9f10be54959"/>
    <p:sldId id="268" r:id="Re6e6b0c6912747b0"/>
    <p:sldId id="269" r:id="R949af048620e457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7b71cad86ae4efe" /><Relationship Type="http://schemas.openxmlformats.org/officeDocument/2006/relationships/slide" Target="/ppt/slides/slide2.xml" Id="R11076c818e594df2" /><Relationship Type="http://schemas.openxmlformats.org/officeDocument/2006/relationships/slide" Target="/ppt/slides/slide3.xml" Id="R4cdb45d1f1de4263" /><Relationship Type="http://schemas.openxmlformats.org/officeDocument/2006/relationships/slide" Target="/ppt/slides/slide4.xml" Id="R57adb16bcfe745f9" /><Relationship Type="http://schemas.openxmlformats.org/officeDocument/2006/relationships/slide" Target="/ppt/slides/slide5.xml" Id="Rdd2e5d928f844764" /><Relationship Type="http://schemas.openxmlformats.org/officeDocument/2006/relationships/slide" Target="/ppt/slides/slide6.xml" Id="R50413500792f46a1" /><Relationship Type="http://schemas.openxmlformats.org/officeDocument/2006/relationships/slide" Target="/ppt/slides/slide7.xml" Id="R338c7e5c6e1a4f38" /><Relationship Type="http://schemas.openxmlformats.org/officeDocument/2006/relationships/slide" Target="/ppt/slides/slide8.xml" Id="R60164ebe5c6a44dc" /><Relationship Type="http://schemas.openxmlformats.org/officeDocument/2006/relationships/slide" Target="/ppt/slides/slide9.xml" Id="Ra304adb0781940dd" /><Relationship Type="http://schemas.openxmlformats.org/officeDocument/2006/relationships/slide" Target="/ppt/slides/slide10.xml" Id="R224cb82129c94f36" /><Relationship Type="http://schemas.openxmlformats.org/officeDocument/2006/relationships/slide" Target="/ppt/slides/slide11.xml" Id="R308711704a5e4ce4" /><Relationship Type="http://schemas.openxmlformats.org/officeDocument/2006/relationships/slide" Target="/ppt/slides/slide12.xml" Id="Rb4f7d9f10be54959" /><Relationship Type="http://schemas.openxmlformats.org/officeDocument/2006/relationships/slide" Target="/ppt/slides/slide13.xml" Id="Re6e6b0c6912747b0" /><Relationship Type="http://schemas.openxmlformats.org/officeDocument/2006/relationships/slide" Target="/ppt/slides/slide14.xml" Id="R949af048620e457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80a17cd594f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83091cec24e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4be7c7a7449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146f4636840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67e56de83411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72411f7d98442e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6d7195e4442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3f88ee27e46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f4fe22bef4e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e89d56b5748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2af9e944b4b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083e3df0e42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ddacdec6549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74f503d6943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45048810142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2653fc90b43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758c9b58846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4e00ce3004e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9d92d78e54d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55e682a7945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00" name="!!scene-section-badge"/>
          <p:cNvSpPr/>
          <p:nvPr/>
        </p:nvSpPr>
        <p:spPr>
          <a:xfrm xmlns:a="http://schemas.openxmlformats.org/drawingml/2006/main">
            <a:off x="1260000" y="1080000"/>
            <a:ext cx="2520000" cy="2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#badge-text"/>
          <p:cNvSpPr txBox="1"/>
          <p:nvPr/>
        </p:nvSpPr>
        <p:spPr>
          <a:xfrm xmlns:a="http://schemas.openxmlformats.org/drawingml/2006/main">
            <a:off x="1260000" y="1080000"/>
            <a:ext cx="252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284C7"/>
                </a:solidFill>
                <a:latin typeface="Segoe UI"/>
                <a:ea typeface="Segoe UI"/>
              </a:rPr>
              <a:t>00 / STRATEGIC OVERVIEW</a:t>
            </a:r>
          </a:p>
        </p:txBody>
      </p:sp>
      <p:sp>
        <p:nvSpPr>
          <p:cNvPr id="100002" name="!!actor-main-card"/>
          <p:cNvSpPr/>
          <p:nvPr/>
        </p:nvSpPr>
        <p:spPr>
          <a:xfrm xmlns:a="http://schemas.openxmlformats.org/drawingml/2006/main">
            <a:off x="1260000" y="1512000"/>
            <a:ext cx="9673200" cy="475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#s1-title"/>
          <p:cNvSpPr txBox="1"/>
          <p:nvPr/>
        </p:nvSpPr>
        <p:spPr>
          <a:xfrm xmlns:a="http://schemas.openxmlformats.org/drawingml/2006/main">
            <a:off x="1800000" y="2088000"/>
            <a:ext cx="82800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800" b="1">
                <a:solidFill>
                  <a:srgbClr val="0F172A"/>
                </a:solidFill>
                <a:latin typeface="Segoe UI"/>
                <a:ea typeface="Segoe UI"/>
              </a:rPr>
              <a:t>Should AI Replace</a:t>
            </a:r>
          </a:p>
          <a:p xmlns:a="http://schemas.openxmlformats.org/drawingml/2006/main">
            <a:r>
              <a:rPr lang="en-US" sz="3800" b="1">
                <a:solidFill>
                  <a:srgbClr val="0F172A"/>
                </a:solidFill>
                <a:latin typeface="Segoe UI"/>
                <a:ea typeface="Segoe UI"/>
              </a:rPr>
              <a:t>Human Programmers?</a:t>
            </a:r>
          </a:p>
        </p:txBody>
      </p:sp>
      <p:sp>
        <p:nvSpPr>
          <p:cNvPr id="100004" name="#s1-subtitle"/>
          <p:cNvSpPr txBox="1"/>
          <p:nvPr/>
        </p:nvSpPr>
        <p:spPr>
          <a:xfrm xmlns:a="http://schemas.openxmlformats.org/drawingml/2006/main">
            <a:off x="1800000" y="3888000"/>
            <a:ext cx="8280000" cy="16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475569"/>
                </a:solidFill>
                <a:latin typeface="Segoe UI"/>
                <a:ea typeface="Segoe UI"/>
              </a:rPr>
              <a:t>A Strategic Outlook on AI Capabilities, Human Critical Thinking &amp; Future Software Engineering</a:t>
            </a:r>
          </a:p>
        </p:txBody>
      </p:sp>
    </p:spTree>
  </p:cSld>
</p:sld>
</file>

<file path=ppt/slides/slide2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05" name="!!scene-section-badge"/>
          <p:cNvSpPr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6" name="!!#badge-text"/>
          <p:cNvSpPr txBox="1"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284C7"/>
                </a:solidFill>
                <a:latin typeface="Segoe UI"/>
                <a:ea typeface="Segoe UI"/>
              </a:rPr>
              <a:t>01 / FOUNDATIONS</a:t>
            </a:r>
          </a:p>
        </p:txBody>
      </p:sp>
      <p:sp>
        <p:nvSpPr>
          <p:cNvPr id="100007" name="!!#slide-title"/>
          <p:cNvSpPr txBox="1"/>
          <p:nvPr/>
        </p:nvSpPr>
        <p:spPr>
          <a:xfrm xmlns:a="http://schemas.openxmlformats.org/drawingml/2006/main">
            <a:off x="648000" y="684000"/>
            <a:ext cx="108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Segoe UI"/>
                <a:ea typeface="Segoe UI"/>
              </a:rPr>
              <a:t>AI vs. Traditional Programs</a:t>
            </a:r>
          </a:p>
        </p:txBody>
      </p:sp>
      <p:sp>
        <p:nvSpPr>
          <p:cNvPr id="100008" name="!!actor-main-card"/>
          <p:cNvSpPr/>
          <p:nvPr/>
        </p:nvSpPr>
        <p:spPr>
          <a:xfrm xmlns:a="http://schemas.openxmlformats.org/drawingml/2006/main">
            <a:off x="6300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3FF"/>
          </a:solidFill>
          <a:ln xmlns:a="http://schemas.openxmlformats.org/drawingml/2006/main">
            <a:solidFill>
              <a:srgbClr val="BFDBF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9" name="!!#s2-left-card"/>
          <p:cNvSpPr/>
          <p:nvPr/>
        </p:nvSpPr>
        <p:spPr>
          <a:xfrm xmlns:a="http://schemas.openxmlformats.org/drawingml/2006/main">
            <a:off x="648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!!#s2-left-text"/>
          <p:cNvSpPr txBox="1"/>
          <p:nvPr/>
        </p:nvSpPr>
        <p:spPr>
          <a:xfrm xmlns:a="http://schemas.openxmlformats.org/drawingml/2006/main">
            <a:off x="900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Traditional Computer Programs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Explicit rules written by humans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Strict logic (if/else statements)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Fixed input to fixed output execution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Manual code implementation</a:t>
            </a:r>
          </a:p>
        </p:txBody>
      </p:sp>
      <p:sp>
        <p:nvSpPr>
          <p:cNvPr id="100011" name="!!#s2-right-text"/>
          <p:cNvSpPr txBox="1"/>
          <p:nvPr/>
        </p:nvSpPr>
        <p:spPr>
          <a:xfrm xmlns:a="http://schemas.openxmlformats.org/drawingml/2006/main">
            <a:off x="6552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Artificial Intelligence Models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Learns patterns from vast training data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Generates code from human prompts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Popular Tools: ChatGPT, Copilot, Cursor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Powered by LLMs, Big Data &amp; GPUs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12" name="!!scene-section-badge"/>
          <p:cNvSpPr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!!#badge-text"/>
          <p:cNvSpPr txBox="1"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284C7"/>
                </a:solidFill>
                <a:latin typeface="Segoe UI"/>
                <a:ea typeface="Segoe UI"/>
              </a:rPr>
              <a:t>02 / DEVELOPER ASSISTANCE</a:t>
            </a:r>
          </a:p>
        </p:txBody>
      </p:sp>
      <p:sp>
        <p:nvSpPr>
          <p:cNvPr id="100014" name="!!#slide-title"/>
          <p:cNvSpPr txBox="1"/>
          <p:nvPr/>
        </p:nvSpPr>
        <p:spPr>
          <a:xfrm xmlns:a="http://schemas.openxmlformats.org/drawingml/2006/main">
            <a:off x="648000" y="684000"/>
            <a:ext cx="108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Segoe UI"/>
                <a:ea typeface="Segoe UI"/>
              </a:rPr>
              <a:t>AI as a Developer's Assistant</a:t>
            </a:r>
          </a:p>
        </p:txBody>
      </p:sp>
      <p:sp>
        <p:nvSpPr>
          <p:cNvPr id="100015" name="!!actor-main-card"/>
          <p:cNvSpPr/>
          <p:nvPr/>
        </p:nvSpPr>
        <p:spPr>
          <a:xfrm xmlns:a="http://schemas.openxmlformats.org/drawingml/2006/main">
            <a:off x="648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!!#s3-left-text"/>
          <p:cNvSpPr txBox="1"/>
          <p:nvPr/>
        </p:nvSpPr>
        <p:spPr>
          <a:xfrm xmlns:a="http://schemas.openxmlformats.org/drawingml/2006/main">
            <a:off x="900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Core Assistance Tasks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Boilerplate Code: Generates repetitive setup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Code Refactoring: Cleans up syntax &amp; functions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Documentation &amp; Tests: Writes unit tests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Debugging Helper: Explains error logs</a:t>
            </a:r>
          </a:p>
        </p:txBody>
      </p:sp>
      <p:sp>
        <p:nvSpPr>
          <p:cNvPr id="100017" name="!!#s3-right-card"/>
          <p:cNvSpPr/>
          <p:nvPr/>
        </p:nvSpPr>
        <p:spPr>
          <a:xfrm xmlns:a="http://schemas.openxmlformats.org/drawingml/2006/main">
            <a:off x="6300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3FF"/>
          </a:solidFill>
          <a:ln xmlns:a="http://schemas.openxmlformats.org/drawingml/2006/main">
            <a:solidFill>
              <a:srgbClr val="BFDBF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!!#s3-right-text"/>
          <p:cNvSpPr txBox="1"/>
          <p:nvPr/>
        </p:nvSpPr>
        <p:spPr>
          <a:xfrm xmlns:a="http://schemas.openxmlformats.org/drawingml/2006/main">
            <a:off x="6552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Developer Impact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Saves hours of manual code typing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Focuses developer energy on hard logic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Reduces syntax search time on Google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Speeds up initial feature prototyping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19" name="!!scene-section-badge"/>
          <p:cNvSpPr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0" name="!!#badge-text"/>
          <p:cNvSpPr txBox="1"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284C7"/>
                </a:solidFill>
                <a:latin typeface="Segoe UI"/>
                <a:ea typeface="Segoe UI"/>
              </a:rPr>
              <a:t>02 / EDUCATION &amp; LEARNING</a:t>
            </a:r>
          </a:p>
        </p:txBody>
      </p:sp>
      <p:sp>
        <p:nvSpPr>
          <p:cNvPr id="100021" name="!!#slide-title"/>
          <p:cNvSpPr txBox="1"/>
          <p:nvPr/>
        </p:nvSpPr>
        <p:spPr>
          <a:xfrm xmlns:a="http://schemas.openxmlformats.org/drawingml/2006/main">
            <a:off x="648000" y="684000"/>
            <a:ext cx="108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Segoe UI"/>
                <a:ea typeface="Segoe UI"/>
              </a:rPr>
              <a:t>Productivity &amp; Learning for Beginners</a:t>
            </a:r>
          </a:p>
        </p:txBody>
      </p:sp>
      <p:sp>
        <p:nvSpPr>
          <p:cNvPr id="100022" name="!!actor-main-card"/>
          <p:cNvSpPr/>
          <p:nvPr/>
        </p:nvSpPr>
        <p:spPr>
          <a:xfrm xmlns:a="http://schemas.openxmlformats.org/drawingml/2006/main">
            <a:off x="6300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3FF"/>
          </a:solidFill>
          <a:ln xmlns:a="http://schemas.openxmlformats.org/drawingml/2006/main">
            <a:solidFill>
              <a:srgbClr val="BFDBF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3" name="!!#s4-left-card"/>
          <p:cNvSpPr/>
          <p:nvPr/>
        </p:nvSpPr>
        <p:spPr>
          <a:xfrm xmlns:a="http://schemas.openxmlformats.org/drawingml/2006/main">
            <a:off x="648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4" name="!!#s4-left-text"/>
          <p:cNvSpPr txBox="1"/>
          <p:nvPr/>
        </p:nvSpPr>
        <p:spPr>
          <a:xfrm xmlns:a="http://schemas.openxmlformats.org/drawingml/2006/main">
            <a:off x="900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Productivity Boost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Speeds up coding by 20% to 50%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Tasks AI performs well: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   - Standard algorithms &amp; regex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   - Data formatting &amp; JSON parsing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   - Basic API integration code</a:t>
            </a:r>
          </a:p>
        </p:txBody>
      </p:sp>
      <p:sp>
        <p:nvSpPr>
          <p:cNvPr id="100025" name="!!#s4-right-text"/>
          <p:cNvSpPr txBox="1"/>
          <p:nvPr/>
        </p:nvSpPr>
        <p:spPr>
          <a:xfrm xmlns:a="http://schemas.openxmlformats.org/drawingml/2006/main">
            <a:off x="6552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24/7 Learning Support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Acts as a personal programming tutor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Explains complex concepts with simple code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Clarifies recursion, async, and OOP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Gives instant answers to student questions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26" name="!!scene-section-badge"/>
          <p:cNvSpPr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7" name="!!#badge-text"/>
          <p:cNvSpPr txBox="1"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284C7"/>
                </a:solidFill>
                <a:latin typeface="Segoe UI"/>
                <a:ea typeface="Segoe UI"/>
              </a:rPr>
              <a:t>03 / LIMITATIONS</a:t>
            </a:r>
          </a:p>
        </p:txBody>
      </p:sp>
      <p:sp>
        <p:nvSpPr>
          <p:cNvPr id="100028" name="!!#slide-title"/>
          <p:cNvSpPr txBox="1"/>
          <p:nvPr/>
        </p:nvSpPr>
        <p:spPr>
          <a:xfrm xmlns:a="http://schemas.openxmlformats.org/drawingml/2006/main">
            <a:off x="648000" y="684000"/>
            <a:ext cx="108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Segoe UI"/>
                <a:ea typeface="Segoe UI"/>
              </a:rPr>
              <a:t>What AI Cannot Do (Limitations)</a:t>
            </a:r>
          </a:p>
        </p:txBody>
      </p:sp>
      <p:sp>
        <p:nvSpPr>
          <p:cNvPr id="100029" name="!!actor-main-card"/>
          <p:cNvSpPr/>
          <p:nvPr/>
        </p:nvSpPr>
        <p:spPr>
          <a:xfrm xmlns:a="http://schemas.openxmlformats.org/drawingml/2006/main">
            <a:off x="648000" y="1260000"/>
            <a:ext cx="108972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0" name="!!#s5-content"/>
          <p:cNvSpPr txBox="1"/>
          <p:nvPr/>
        </p:nvSpPr>
        <p:spPr>
          <a:xfrm xmlns:a="http://schemas.openxmlformats.org/drawingml/2006/main">
            <a:off x="1008000" y="1584000"/>
            <a:ext cx="100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Key Limitations of AI in Coding: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No Business Context: AI cannot understand user empathy, product goals, or domain nuances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Hallucinations: Generates fake functions, invalid library calls, and insecure patterns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Lack of Creativity: Recombines past training data; cannot invent new paradigm concepts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Statistical Prediction: Operates on probability, not genuine understanding of systems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31" name="!!scene-section-badge"/>
          <p:cNvSpPr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2" name="!!#badge-text"/>
          <p:cNvSpPr txBox="1"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284C7"/>
                </a:solidFill>
                <a:latin typeface="Segoe UI"/>
                <a:ea typeface="Segoe UI"/>
              </a:rPr>
              <a:t>03 / HUMAN OVERSIGHT</a:t>
            </a:r>
          </a:p>
        </p:txBody>
      </p:sp>
      <p:sp>
        <p:nvSpPr>
          <p:cNvPr id="100033" name="!!#slide-title"/>
          <p:cNvSpPr txBox="1"/>
          <p:nvPr/>
        </p:nvSpPr>
        <p:spPr>
          <a:xfrm xmlns:a="http://schemas.openxmlformats.org/drawingml/2006/main">
            <a:off x="648000" y="684000"/>
            <a:ext cx="108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Segoe UI"/>
                <a:ea typeface="Segoe UI"/>
              </a:rPr>
              <a:t>Why Programmers Still Need Critical Thinking</a:t>
            </a:r>
          </a:p>
        </p:txBody>
      </p:sp>
      <p:sp>
        <p:nvSpPr>
          <p:cNvPr id="100034" name="!!actor-main-card"/>
          <p:cNvSpPr/>
          <p:nvPr/>
        </p:nvSpPr>
        <p:spPr>
          <a:xfrm xmlns:a="http://schemas.openxmlformats.org/drawingml/2006/main">
            <a:off x="648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5" name="!!#s6-left-text"/>
          <p:cNvSpPr txBox="1"/>
          <p:nvPr/>
        </p:nvSpPr>
        <p:spPr>
          <a:xfrm xmlns:a="http://schemas.openxmlformats.org/drawingml/2006/main">
            <a:off x="900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Human Oversight Required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Mandatory Code Review: Never trust AI blindly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Edge Case Handling: Real-world inputs break AI code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Security &amp; Privacy: Protecting against data leaks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System Reliability: Preventing costly production outages</a:t>
            </a:r>
          </a:p>
        </p:txBody>
      </p:sp>
      <p:sp>
        <p:nvSpPr>
          <p:cNvPr id="100036" name="!!#s6-right-card"/>
          <p:cNvSpPr/>
          <p:nvPr/>
        </p:nvSpPr>
        <p:spPr>
          <a:xfrm xmlns:a="http://schemas.openxmlformats.org/drawingml/2006/main">
            <a:off x="6300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3FF"/>
          </a:solidFill>
          <a:ln xmlns:a="http://schemas.openxmlformats.org/drawingml/2006/main">
            <a:solidFill>
              <a:srgbClr val="BFDBF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7" name="!!#s6-right-text"/>
          <p:cNvSpPr txBox="1"/>
          <p:nvPr/>
        </p:nvSpPr>
        <p:spPr>
          <a:xfrm xmlns:a="http://schemas.openxmlformats.org/drawingml/2006/main">
            <a:off x="6552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High-Stakes Reality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Financial &amp; Medical Software errors threaten lives &amp; money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Small logic bugs generated by AI can cost millions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Human engineers must take ultimate accountability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Critical thinking ensures system safety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38" name="!!scene-section-badge"/>
          <p:cNvSpPr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9" name="!!#badge-text"/>
          <p:cNvSpPr txBox="1"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284C7"/>
                </a:solidFill>
                <a:latin typeface="Segoe UI"/>
                <a:ea typeface="Segoe UI"/>
              </a:rPr>
              <a:t>04 / ACADEMICS</a:t>
            </a:r>
          </a:p>
        </p:txBody>
      </p:sp>
      <p:sp>
        <p:nvSpPr>
          <p:cNvPr id="100040" name="!!#slide-title"/>
          <p:cNvSpPr txBox="1"/>
          <p:nvPr/>
        </p:nvSpPr>
        <p:spPr>
          <a:xfrm xmlns:a="http://schemas.openxmlformats.org/drawingml/2006/main">
            <a:off x="648000" y="684000"/>
            <a:ext cx="108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Segoe UI"/>
                <a:ea typeface="Segoe UI"/>
              </a:rPr>
              <a:t>AI in Education: Cheating or Learning Tool?</a:t>
            </a:r>
          </a:p>
        </p:txBody>
      </p:sp>
      <p:sp>
        <p:nvSpPr>
          <p:cNvPr id="100041" name="!!actor-main-card"/>
          <p:cNvSpPr/>
          <p:nvPr/>
        </p:nvSpPr>
        <p:spPr>
          <a:xfrm xmlns:a="http://schemas.openxmlformats.org/drawingml/2006/main">
            <a:off x="6300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3FF"/>
          </a:solidFill>
          <a:ln xmlns:a="http://schemas.openxmlformats.org/drawingml/2006/main">
            <a:solidFill>
              <a:srgbClr val="BFDBF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2" name="!!#s7-left-card"/>
          <p:cNvSpPr/>
          <p:nvPr/>
        </p:nvSpPr>
        <p:spPr>
          <a:xfrm xmlns:a="http://schemas.openxmlformats.org/drawingml/2006/main">
            <a:off x="648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3" name="!!#s7-left-text"/>
          <p:cNvSpPr txBox="1"/>
          <p:nvPr/>
        </p:nvSpPr>
        <p:spPr>
          <a:xfrm xmlns:a="http://schemas.openxmlformats.org/drawingml/2006/main">
            <a:off x="900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Is Using AI Cheating?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Copy-pasting AI code without understanding = CHEATING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Using AI to explain errors &amp; concepts = LEARNING TOOL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University Policies: AI allowed for brainstorming, but code comprehension is required</a:t>
            </a:r>
          </a:p>
        </p:txBody>
      </p:sp>
      <p:sp>
        <p:nvSpPr>
          <p:cNvPr id="100044" name="!!#s7-right-text"/>
          <p:cNvSpPr txBox="1"/>
          <p:nvPr/>
        </p:nvSpPr>
        <p:spPr>
          <a:xfrm xmlns:a="http://schemas.openxmlformats.org/drawingml/2006/main">
            <a:off x="6552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Golden Rules for Students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Always understand every line of code before submitting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Use AI to clarify logic, not to skip problem-solving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Over-reliance damages foundational thinking skills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Treat AI as a mentor, not a code ghostwriter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45" name="!!scene-section-badge"/>
          <p:cNvSpPr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6" name="!!#badge-text"/>
          <p:cNvSpPr txBox="1"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284C7"/>
                </a:solidFill>
                <a:latin typeface="Segoe UI"/>
                <a:ea typeface="Segoe UI"/>
              </a:rPr>
              <a:t>04 / RESEARCH PROOF</a:t>
            </a:r>
          </a:p>
        </p:txBody>
      </p:sp>
      <p:sp>
        <p:nvSpPr>
          <p:cNvPr id="100047" name="!!#slide-title"/>
          <p:cNvSpPr txBox="1"/>
          <p:nvPr/>
        </p:nvSpPr>
        <p:spPr>
          <a:xfrm xmlns:a="http://schemas.openxmlformats.org/drawingml/2006/main">
            <a:off x="648000" y="684000"/>
            <a:ext cx="108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Segoe UI"/>
                <a:ea typeface="Segoe UI"/>
              </a:rPr>
              <a:t>Empirical Proof: Anthropic Study (2026)</a:t>
            </a:r>
          </a:p>
        </p:txBody>
      </p:sp>
      <p:sp>
        <p:nvSpPr>
          <p:cNvPr id="100048" name="!!actor-main-card"/>
          <p:cNvSpPr/>
          <p:nvPr/>
        </p:nvSpPr>
        <p:spPr>
          <a:xfrm xmlns:a="http://schemas.openxmlformats.org/drawingml/2006/main">
            <a:off x="648000" y="1260000"/>
            <a:ext cx="108972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9" name="!!#s8-content"/>
          <p:cNvSpPr txBox="1"/>
          <p:nvPr/>
        </p:nvSpPr>
        <p:spPr>
          <a:xfrm xmlns:a="http://schemas.openxmlformats.org/drawingml/2006/main">
            <a:off x="1008000" y="1584000"/>
            <a:ext cx="100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Scientific Evidence on Coding Skill Acquisition: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17% Lower Comprehension: Students relying passively on AI scored nearly two grades lower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Cognitive Offloading (Bad): Copying AI output without thinking leads to weak debugging skills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Cognitive Engagement (Good): Asking AI 'why' code works retains high mastery (&gt;= 65%)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Key Finding: You cannot effectively supervise AI code if you never built manual muscle memory first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50" name="!!scene-section-badge"/>
          <p:cNvSpPr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1" name="!!#badge-text"/>
          <p:cNvSpPr txBox="1"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284C7"/>
                </a:solidFill>
                <a:latin typeface="Segoe UI"/>
                <a:ea typeface="Segoe UI"/>
              </a:rPr>
              <a:t>05 / IT JOB MARKET</a:t>
            </a:r>
          </a:p>
        </p:txBody>
      </p:sp>
      <p:sp>
        <p:nvSpPr>
          <p:cNvPr id="100052" name="!!#slide-title"/>
          <p:cNvSpPr txBox="1"/>
          <p:nvPr/>
        </p:nvSpPr>
        <p:spPr>
          <a:xfrm xmlns:a="http://schemas.openxmlformats.org/drawingml/2006/main">
            <a:off x="648000" y="684000"/>
            <a:ext cx="108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Segoe UI"/>
                <a:ea typeface="Segoe UI"/>
              </a:rPr>
              <a:t>Impact on the IT Job Market</a:t>
            </a:r>
          </a:p>
        </p:txBody>
      </p:sp>
      <p:sp>
        <p:nvSpPr>
          <p:cNvPr id="100053" name="!!actor-main-card"/>
          <p:cNvSpPr/>
          <p:nvPr/>
        </p:nvSpPr>
        <p:spPr>
          <a:xfrm xmlns:a="http://schemas.openxmlformats.org/drawingml/2006/main">
            <a:off x="6300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3FF"/>
          </a:solidFill>
          <a:ln xmlns:a="http://schemas.openxmlformats.org/drawingml/2006/main">
            <a:solidFill>
              <a:srgbClr val="BFDBF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4" name="!!#s9-left-card"/>
          <p:cNvSpPr/>
          <p:nvPr/>
        </p:nvSpPr>
        <p:spPr>
          <a:xfrm xmlns:a="http://schemas.openxmlformats.org/drawingml/2006/main">
            <a:off x="648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5" name="!!#s9-left-text"/>
          <p:cNvSpPr txBox="1"/>
          <p:nvPr/>
        </p:nvSpPr>
        <p:spPr>
          <a:xfrm xmlns:a="http://schemas.openxmlformats.org/drawingml/2006/main">
            <a:off x="900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Entry-Level vs Safe Roles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Junior Code Typing Roles: Pure code-typing jobs are shrinking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High-Demand Safe Roles: Software Architects, Security Engineers, DevOps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Hiring Shift: Companies want engineers who oversee AI output effectively</a:t>
            </a:r>
          </a:p>
        </p:txBody>
      </p:sp>
      <p:sp>
        <p:nvSpPr>
          <p:cNvPr id="100056" name="!!#s9-right-text"/>
          <p:cNvSpPr txBox="1"/>
          <p:nvPr/>
        </p:nvSpPr>
        <p:spPr>
          <a:xfrm xmlns:a="http://schemas.openxmlformats.org/drawingml/2006/main">
            <a:off x="6552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Industry Transformation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Shift from 'code writing' to 'system engineering'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Focus moves to code review, architecture &amp; security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Software development becomes higher-level problem solving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(Insights from David Regalado &amp; tech leaders)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57" name="!!scene-section-badge"/>
          <p:cNvSpPr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8" name="!!#badge-text"/>
          <p:cNvSpPr txBox="1"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284C7"/>
                </a:solidFill>
                <a:latin typeface="Segoe UI"/>
                <a:ea typeface="Segoe UI"/>
              </a:rPr>
              <a:t>05 / CAREER PATHS</a:t>
            </a:r>
          </a:p>
        </p:txBody>
      </p:sp>
      <p:sp>
        <p:nvSpPr>
          <p:cNvPr id="100059" name="!!#slide-title"/>
          <p:cNvSpPr txBox="1"/>
          <p:nvPr/>
        </p:nvSpPr>
        <p:spPr>
          <a:xfrm xmlns:a="http://schemas.openxmlformats.org/drawingml/2006/main">
            <a:off x="648000" y="684000"/>
            <a:ext cx="108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Segoe UI"/>
                <a:ea typeface="Segoe UI"/>
              </a:rPr>
              <a:t>Emerging Career Opportunities in Tech</a:t>
            </a:r>
          </a:p>
        </p:txBody>
      </p:sp>
      <p:sp>
        <p:nvSpPr>
          <p:cNvPr id="100060" name="!!actor-main-card"/>
          <p:cNvSpPr/>
          <p:nvPr/>
        </p:nvSpPr>
        <p:spPr>
          <a:xfrm xmlns:a="http://schemas.openxmlformats.org/drawingml/2006/main">
            <a:off x="648000" y="1260000"/>
            <a:ext cx="108972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1" name="!!#s10-content"/>
          <p:cNvSpPr txBox="1"/>
          <p:nvPr/>
        </p:nvSpPr>
        <p:spPr>
          <a:xfrm xmlns:a="http://schemas.openxmlformats.org/drawingml/2006/main">
            <a:off x="1008000" y="1584000"/>
            <a:ext cx="100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New Tech Jobs Created by AI: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AI Prompt &amp; Context Engineer: Optimizing instructions &amp; system context for LLMs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AI Security &amp; Safety Auditor: Checking generated code for flaws and data leaks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AI Integration Specialist: Connecting AI models with enterprise databases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Product Engineer: Combining product design with rapid AI code prototyping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62" name="!!scene-section-badge"/>
          <p:cNvSpPr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3" name="!!#badge-text"/>
          <p:cNvSpPr txBox="1"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284C7"/>
                </a:solidFill>
                <a:latin typeface="Segoe UI"/>
                <a:ea typeface="Segoe UI"/>
              </a:rPr>
              <a:t>06 / TECHNICAL SKILLS</a:t>
            </a:r>
          </a:p>
        </p:txBody>
      </p:sp>
      <p:sp>
        <p:nvSpPr>
          <p:cNvPr id="100064" name="!!#slide-title"/>
          <p:cNvSpPr txBox="1"/>
          <p:nvPr/>
        </p:nvSpPr>
        <p:spPr>
          <a:xfrm xmlns:a="http://schemas.openxmlformats.org/drawingml/2006/main">
            <a:off x="648000" y="684000"/>
            <a:ext cx="108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Segoe UI"/>
                <a:ea typeface="Segoe UI"/>
              </a:rPr>
              <a:t>Essential Technical Future Skills</a:t>
            </a:r>
          </a:p>
        </p:txBody>
      </p:sp>
      <p:sp>
        <p:nvSpPr>
          <p:cNvPr id="100065" name="!!actor-main-card"/>
          <p:cNvSpPr/>
          <p:nvPr/>
        </p:nvSpPr>
        <p:spPr>
          <a:xfrm xmlns:a="http://schemas.openxmlformats.org/drawingml/2006/main">
            <a:off x="6300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3FF"/>
          </a:solidFill>
          <a:ln xmlns:a="http://schemas.openxmlformats.org/drawingml/2006/main">
            <a:solidFill>
              <a:srgbClr val="BFDBF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6" name="!!#s11-left-card"/>
          <p:cNvSpPr/>
          <p:nvPr/>
        </p:nvSpPr>
        <p:spPr>
          <a:xfrm xmlns:a="http://schemas.openxmlformats.org/drawingml/2006/main">
            <a:off x="648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7" name="!!#s11-left-text"/>
          <p:cNvSpPr txBox="1"/>
          <p:nvPr/>
        </p:nvSpPr>
        <p:spPr>
          <a:xfrm xmlns:a="http://schemas.openxmlformats.org/drawingml/2006/main">
            <a:off x="900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Core Fundamentals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Data Structures &amp; Algorithms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Database Design &amp; Indexing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Computer Networking &amp; Security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Fundamental knowledge required to inspect AI code</a:t>
            </a:r>
          </a:p>
        </p:txBody>
      </p:sp>
      <p:sp>
        <p:nvSpPr>
          <p:cNvPr id="100068" name="!!#s11-right-text"/>
          <p:cNvSpPr txBox="1"/>
          <p:nvPr/>
        </p:nvSpPr>
        <p:spPr>
          <a:xfrm xmlns:a="http://schemas.openxmlformats.org/drawingml/2006/main">
            <a:off x="6552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Higher-Level Mastery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High-level System Architecture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Distributed Systems &amp; Cloud Infrastructure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Problem Deconstruction &amp; Logic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Move up from 'code writer' to 'solution designer'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69" name="!!scene-section-badge"/>
          <p:cNvSpPr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0" name="!!#badge-text"/>
          <p:cNvSpPr txBox="1"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284C7"/>
                </a:solidFill>
                <a:latin typeface="Segoe UI"/>
                <a:ea typeface="Segoe UI"/>
              </a:rPr>
              <a:t>06 / SOFT SKILLS</a:t>
            </a:r>
          </a:p>
        </p:txBody>
      </p:sp>
      <p:sp>
        <p:nvSpPr>
          <p:cNvPr id="100071" name="!!#slide-title"/>
          <p:cNvSpPr txBox="1"/>
          <p:nvPr/>
        </p:nvSpPr>
        <p:spPr>
          <a:xfrm xmlns:a="http://schemas.openxmlformats.org/drawingml/2006/main">
            <a:off x="648000" y="684000"/>
            <a:ext cx="108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Segoe UI"/>
                <a:ea typeface="Segoe UI"/>
              </a:rPr>
              <a:t>Non-Coding Essential Skills</a:t>
            </a:r>
          </a:p>
        </p:txBody>
      </p:sp>
      <p:sp>
        <p:nvSpPr>
          <p:cNvPr id="100072" name="!!actor-main-card"/>
          <p:cNvSpPr/>
          <p:nvPr/>
        </p:nvSpPr>
        <p:spPr>
          <a:xfrm xmlns:a="http://schemas.openxmlformats.org/drawingml/2006/main">
            <a:off x="648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3" name="!!#s12-left-text"/>
          <p:cNvSpPr txBox="1"/>
          <p:nvPr/>
        </p:nvSpPr>
        <p:spPr>
          <a:xfrm xmlns:a="http://schemas.openxmlformats.org/drawingml/2006/main">
            <a:off x="900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Soft Skills &amp; Teamwork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Communication: Software is built by teams for human users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Product Thinking: Understanding real customer pain points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Collaboration: Aligning business goals with code</a:t>
            </a:r>
          </a:p>
        </p:txBody>
      </p:sp>
      <p:sp>
        <p:nvSpPr>
          <p:cNvPr id="100074" name="!!#s12-right-card"/>
          <p:cNvSpPr/>
          <p:nvPr/>
        </p:nvSpPr>
        <p:spPr>
          <a:xfrm xmlns:a="http://schemas.openxmlformats.org/drawingml/2006/main">
            <a:off x="6300000" y="1260000"/>
            <a:ext cx="5220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3FF"/>
          </a:solidFill>
          <a:ln xmlns:a="http://schemas.openxmlformats.org/drawingml/2006/main">
            <a:solidFill>
              <a:srgbClr val="BFDBF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5" name="!!#s12-right-text"/>
          <p:cNvSpPr txBox="1"/>
          <p:nvPr/>
        </p:nvSpPr>
        <p:spPr>
          <a:xfrm xmlns:a="http://schemas.openxmlformats.org/drawingml/2006/main">
            <a:off x="6552000" y="1584000"/>
            <a:ext cx="46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English &amp; Preparation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English Proficiency: Essential for AI prompts, docs &amp; global remote tech jobs</a:t>
            </a:r>
          </a:p>
          <a:p xmlns:a="http://schemas.openxmlformats.org/drawingml/2006/main">
            <a:r>
              <a:rPr lang="en-US" sz="1800">
                <a:solidFill>
                  <a:srgbClr val="334E68"/>
                </a:solidFill>
                <a:latin typeface="Segoe UI"/>
                <a:ea typeface="Segoe UI"/>
              </a:rPr>
              <a:t>• Student Advice: Build real projects, master CS basics &amp; practice AI code review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76" name="!!scene-section-badge"/>
          <p:cNvSpPr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7" name="!!#badge-text"/>
          <p:cNvSpPr txBox="1"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284C7"/>
                </a:solidFill>
                <a:latin typeface="Segoe UI"/>
                <a:ea typeface="Segoe UI"/>
              </a:rPr>
              <a:t>07 / RISK ASSESSMENT</a:t>
            </a:r>
          </a:p>
        </p:txBody>
      </p:sp>
      <p:sp>
        <p:nvSpPr>
          <p:cNvPr id="100078" name="!!#slide-title"/>
          <p:cNvSpPr txBox="1"/>
          <p:nvPr/>
        </p:nvSpPr>
        <p:spPr>
          <a:xfrm xmlns:a="http://schemas.openxmlformats.org/drawingml/2006/main">
            <a:off x="648000" y="684000"/>
            <a:ext cx="108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Segoe UI"/>
                <a:ea typeface="Segoe UI"/>
              </a:rPr>
              <a:t>Risks of Total AI Dependency</a:t>
            </a:r>
          </a:p>
        </p:txBody>
      </p:sp>
      <p:sp>
        <p:nvSpPr>
          <p:cNvPr id="100079" name="!!actor-main-card"/>
          <p:cNvSpPr/>
          <p:nvPr/>
        </p:nvSpPr>
        <p:spPr>
          <a:xfrm xmlns:a="http://schemas.openxmlformats.org/drawingml/2006/main">
            <a:off x="648000" y="1260000"/>
            <a:ext cx="108972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0" name="!!#s13-content"/>
          <p:cNvSpPr txBox="1"/>
          <p:nvPr/>
        </p:nvSpPr>
        <p:spPr>
          <a:xfrm xmlns:a="http://schemas.openxmlformats.org/drawingml/2006/main">
            <a:off x="1008000" y="1584000"/>
            <a:ext cx="1008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Dangerous Business Risks of Replacing Humans: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Security Breaches: Undetected vulnerabilities in production lead to major data leaks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IP &amp; Privacy Leaks: Confidential codebase data leaked to public AI training sets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Maintenance Nightmare: Nobody understands how the AI-generated codebase works when system crashes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Loss of Innovation: Relying solely on past training data prevents true competitive breakthroughs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100081" name="!!scene-section-badge"/>
          <p:cNvSpPr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2" name="!!#badge-text"/>
          <p:cNvSpPr txBox="1"/>
          <p:nvPr/>
        </p:nvSpPr>
        <p:spPr>
          <a:xfrm xmlns:a="http://schemas.openxmlformats.org/drawingml/2006/main">
            <a:off x="648000" y="360000"/>
            <a:ext cx="2520000" cy="23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284C7"/>
                </a:solidFill>
                <a:latin typeface="Segoe UI"/>
                <a:ea typeface="Segoe UI"/>
              </a:rPr>
              <a:t>07 / CONCLUSION</a:t>
            </a:r>
          </a:p>
        </p:txBody>
      </p:sp>
      <p:sp>
        <p:nvSpPr>
          <p:cNvPr id="100083" name="!!#slide-title"/>
          <p:cNvSpPr txBox="1"/>
          <p:nvPr/>
        </p:nvSpPr>
        <p:spPr>
          <a:xfrm xmlns:a="http://schemas.openxmlformats.org/drawingml/2006/main">
            <a:off x="648000" y="684000"/>
            <a:ext cx="108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Segoe UI"/>
                <a:ea typeface="Segoe UI"/>
              </a:rPr>
              <a:t>Final Verdict &amp; 10-Year Vision</a:t>
            </a:r>
          </a:p>
        </p:txBody>
      </p:sp>
      <p:sp>
        <p:nvSpPr>
          <p:cNvPr id="100084" name="!!actor-main-card"/>
          <p:cNvSpPr/>
          <p:nvPr/>
        </p:nvSpPr>
        <p:spPr>
          <a:xfrm xmlns:a="http://schemas.openxmlformats.org/drawingml/2006/main">
            <a:off x="1260000" y="1260000"/>
            <a:ext cx="96732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5" name="!!#s14-content"/>
          <p:cNvSpPr txBox="1"/>
          <p:nvPr/>
        </p:nvSpPr>
        <p:spPr>
          <a:xfrm xmlns:a="http://schemas.openxmlformats.org/drawingml/2006/main">
            <a:off x="1800000" y="1872000"/>
            <a:ext cx="828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AI Will NOT Replace Human Programmers!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Verdict: AI empowers human developers; it does not replace them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10-Year Outlook: Programmers will act like conductors of an AI orchestra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• Business Owner View: Equip developers with AI tools to boost productivity 5x</a:t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0F2C59"/>
                </a:solidFill>
                <a:latin typeface="Segoe UI"/>
                <a:ea typeface="Segoe UI"/>
              </a:rPr>
              <a:t>'AI will not replace developers, but developers using AI will replace developers who do not.'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2026-08-04T08:05:33Z</dcterms:created>
  <cp:lastModifiedBy>OfficeCLI</cp:lastModifiedBy>
  <dcterms:modified xsi:type="dcterms:W3CDTF">2026-08-04T08:05:33Z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2026-08-04T08:07:13Z</vt:lpwstr>
  </op:property>
</op:Properties>
</file>